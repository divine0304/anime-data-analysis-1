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29125" cy="3143166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4429125" cy="31092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875" y="1192141"/>
            <a:ext cx="4429125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Analyse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Comparative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et Statistique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des Animes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4714875" y="3450654"/>
            <a:ext cx="4429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Notes, Régularité et Sources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714875" y="4825603"/>
            <a:ext cx="4429125" cy="317897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4500"/>
                </a:solidFill>
              </a:rPr>
              <a:t>FEVRIER 2026 | RAPPORT DE DONNÉES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Introduction et Objectifs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732778"/>
            <a:ext cx="3929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Pourquoi cette étude ?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2259630"/>
            <a:ext cx="35718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4500"/>
                </a:solidFill>
              </a:rPr>
              <a:t>01</a:t>
            </a:r>
            <a:endParaRPr lang="en-US" sz="2016" dirty="0"/>
          </a:p>
        </p:txBody>
      </p:sp>
      <p:sp>
        <p:nvSpPr>
          <p:cNvPr id="7" name="Text 4"/>
          <p:cNvSpPr/>
          <p:nvPr/>
        </p:nvSpPr>
        <p:spPr>
          <a:xfrm>
            <a:off x="928688" y="2259630"/>
            <a:ext cx="34290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Analyser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une base de données de 73 animes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populaires pour en extraire des tendances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objectives.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3205395"/>
            <a:ext cx="35718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4500"/>
                </a:solidFill>
              </a:rPr>
              <a:t>02</a:t>
            </a:r>
            <a:endParaRPr lang="en-US" sz="2016" dirty="0"/>
          </a:p>
        </p:txBody>
      </p:sp>
      <p:sp>
        <p:nvSpPr>
          <p:cNvPr id="9" name="Text 6"/>
          <p:cNvSpPr/>
          <p:nvPr/>
        </p:nvSpPr>
        <p:spPr>
          <a:xfrm>
            <a:off x="928688" y="3205395"/>
            <a:ext cx="34290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Comprendre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les facteurs de succès : pourquoi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certains animes durent-ils plus longtemps que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d'autres ?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786313" y="1732778"/>
            <a:ext cx="3929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Méthodologie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786313" y="2259630"/>
            <a:ext cx="35718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4500"/>
                </a:solidFill>
              </a:rPr>
              <a:t>03</a:t>
            </a:r>
            <a:endParaRPr lang="en-US" sz="2016" dirty="0"/>
          </a:p>
        </p:txBody>
      </p:sp>
      <p:sp>
        <p:nvSpPr>
          <p:cNvPr id="12" name="Text 9"/>
          <p:cNvSpPr/>
          <p:nvPr/>
        </p:nvSpPr>
        <p:spPr>
          <a:xfrm>
            <a:off x="5286375" y="2259630"/>
            <a:ext cx="34290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Introduire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le "Score Métier", une métrique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équilibrant la note globale et la régularité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épisodique.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786313" y="3205395"/>
            <a:ext cx="35718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4500"/>
                </a:solidFill>
              </a:rPr>
              <a:t>04</a:t>
            </a:r>
            <a:endParaRPr lang="en-US" sz="2016" dirty="0"/>
          </a:p>
        </p:txBody>
      </p:sp>
      <p:sp>
        <p:nvSpPr>
          <p:cNvPr id="14" name="Text 11"/>
          <p:cNvSpPr/>
          <p:nvPr/>
        </p:nvSpPr>
        <p:spPr>
          <a:xfrm>
            <a:off x="5286375" y="3205395"/>
            <a:ext cx="34290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Identifier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les sources de production et les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studios qui dominent le marché actuel.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Présentation des Données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571625"/>
            <a:ext cx="1928813" cy="10001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714500"/>
            <a:ext cx="1785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73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571500" y="2064544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F2F2F2"/>
                </a:solidFill>
              </a:rPr>
              <a:t>Animes Analysés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2500313" y="1571625"/>
            <a:ext cx="1928813" cy="10001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2643188" y="1714500"/>
            <a:ext cx="1785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~81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2643188" y="2064544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F2F2F2"/>
                </a:solidFill>
              </a:rPr>
              <a:t>Épisodes (Moy)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28625" y="2714625"/>
            <a:ext cx="1928813" cy="10001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857500"/>
            <a:ext cx="1785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8.3</a:t>
            </a:r>
            <a:endParaRPr lang="en-US" sz="1808" dirty="0"/>
          </a:p>
        </p:txBody>
      </p:sp>
      <p:sp>
        <p:nvSpPr>
          <p:cNvPr id="13" name="Text 10"/>
          <p:cNvSpPr/>
          <p:nvPr/>
        </p:nvSpPr>
        <p:spPr>
          <a:xfrm>
            <a:off x="571500" y="3207544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F2F2F2"/>
                </a:solidFill>
              </a:rPr>
              <a:t>Note Globale (Moy)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2500313" y="2714625"/>
            <a:ext cx="1928813" cy="10001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2643188" y="2857500"/>
            <a:ext cx="1785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12+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2643188" y="3207544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F2F2F2"/>
                </a:solidFill>
              </a:rPr>
              <a:t>Genres Couverts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07219" y="3929063"/>
            <a:ext cx="9877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Variables Clés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594926" y="3929063"/>
            <a:ext cx="2028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: Note Meilleur vs Pire Épisode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7219" y="4195167"/>
            <a:ext cx="6409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Diversité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1248175" y="4195167"/>
            <a:ext cx="19968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: Shonen, Seinen, Isekai, Sci-Fi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7219" y="4461272"/>
            <a:ext cx="8194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Indicateurs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1426629" y="4461272"/>
            <a:ext cx="25206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: Status (Fini/En cours), Studio, Source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14875" y="1428750"/>
            <a:ext cx="4000500" cy="342900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428750"/>
            <a:ext cx="40005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Nettoyage et Préparation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428750"/>
            <a:ext cx="2628900" cy="2643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428750"/>
            <a:ext cx="26289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571625"/>
            <a:ext cx="2286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PHASE 01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00075" y="1971591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Normalisation Numérique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00075" y="2594493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742950" y="2567704"/>
            <a:ext cx="1993776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Conversion des notes en formats flottants exploitables.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00075" y="3040252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742950" y="3013463"/>
            <a:ext cx="163820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Transformation du nombre d'épisodes en entiers.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0075" y="3486010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742950" y="3459221"/>
            <a:ext cx="19442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Gestion des erreurs de saisie via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742950" y="3639238"/>
            <a:ext cx="462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coerce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1205871" y="3639238"/>
            <a:ext cx="34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3257550" y="1428750"/>
            <a:ext cx="2628900" cy="2643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257550" y="1428750"/>
            <a:ext cx="26289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1571625"/>
            <a:ext cx="2286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PHASE 02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3429000" y="1971591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Traitement des Lacunes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3429000" y="2594493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3571875" y="2567704"/>
            <a:ext cx="162740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Remplacement des valeurs d'épisodes vides par 0.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429000" y="3040252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571875" y="3013463"/>
            <a:ext cx="2116699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Suppression des entrées sans Note Globale.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3429000" y="3486010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3571875" y="3459221"/>
            <a:ext cx="209805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Élimination des lignes entièrement vides.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6086475" y="1428750"/>
            <a:ext cx="2628900" cy="2643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086475" y="1428750"/>
            <a:ext cx="26289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9" name="Text 26"/>
          <p:cNvSpPr/>
          <p:nvPr/>
        </p:nvSpPr>
        <p:spPr>
          <a:xfrm>
            <a:off x="6257925" y="1571625"/>
            <a:ext cx="2286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PHASE 03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6257925" y="1971591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Validation et Export</a:t>
            </a:r>
            <a:endParaRPr lang="en-US" sz="1397" dirty="0"/>
          </a:p>
        </p:txBody>
      </p:sp>
      <p:sp>
        <p:nvSpPr>
          <p:cNvPr id="31" name="Text 28"/>
          <p:cNvSpPr/>
          <p:nvPr/>
        </p:nvSpPr>
        <p:spPr>
          <a:xfrm>
            <a:off x="6257925" y="2594493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6400800" y="2567704"/>
            <a:ext cx="190517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Vérification de l'intégrité des 73 lignes finales.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6257925" y="3040252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6400800" y="3013463"/>
            <a:ext cx="12804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Génération du fichier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6400800" y="3193479"/>
            <a:ext cx="13116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animes_propre.csv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7712404" y="3193479"/>
            <a:ext cx="34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.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6257925" y="3486010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FF4500"/>
                </a:solidFill>
              </a:rPr>
              <a:t>■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6400800" y="3459221"/>
            <a:ext cx="1997236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Préparation des colonnes pour le Score Métier.</a:t>
            </a:r>
            <a:endParaRPr lang="en-US" sz="942" dirty="0"/>
          </a:p>
        </p:txBody>
      </p:sp>
      <p:sp>
        <p:nvSpPr>
          <p:cNvPr id="39" name="Shape 36"/>
          <p:cNvSpPr/>
          <p:nvPr/>
        </p:nvSpPr>
        <p:spPr>
          <a:xfrm>
            <a:off x="428625" y="4143375"/>
            <a:ext cx="8286750" cy="4643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7"/>
          <p:cNvSpPr/>
          <p:nvPr/>
        </p:nvSpPr>
        <p:spPr>
          <a:xfrm>
            <a:off x="428625" y="4143375"/>
            <a:ext cx="8286750" cy="464344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2F2F2"/>
                </a:solidFill>
              </a:rPr>
              <a:t>Résultat : Un dataset fiable prêt pour l'analyse statistique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Analyse de la Qualité : Les Notes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871663"/>
            <a:ext cx="31432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Une excellence globale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2466017"/>
            <a:ext cx="31432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974" b="1" dirty="0">
                <a:solidFill>
                  <a:srgbClr val="FF4500"/>
                </a:solidFill>
              </a:rPr>
              <a:t>8.30</a:t>
            </a:r>
            <a:endParaRPr lang="en-US" sz="4974" dirty="0"/>
          </a:p>
        </p:txBody>
      </p:sp>
      <p:sp>
        <p:nvSpPr>
          <p:cNvPr id="7" name="Text 4"/>
          <p:cNvSpPr/>
          <p:nvPr/>
        </p:nvSpPr>
        <p:spPr>
          <a:xfrm>
            <a:off x="428625" y="3151817"/>
            <a:ext cx="3143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1A1A1A"/>
                </a:solidFill>
              </a:rPr>
              <a:t>Note Moyenne / 10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000500" y="1885950"/>
            <a:ext cx="22502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SOMMETS DE QUALITÉ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000500" y="2152055"/>
            <a:ext cx="22502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Certains épisodes atteignent la note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exceptionnelle de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9.9/10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, marquant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des moments iconiques de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l'animation.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465094" y="1885950"/>
            <a:ext cx="22502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DISTRIBUTION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465094" y="2152055"/>
            <a:ext cx="22502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75%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des animes de l'échantillon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possèdent une note globale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supérieure à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8.1/10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000500" y="3309342"/>
            <a:ext cx="22502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POINTS DE VIGILANCE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000500" y="3575447"/>
            <a:ext cx="22502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Les épisodes "Recap" ou "Filler" font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chuter les moyennes locales,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descendant parfois jusqu'à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0.0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465094" y="3309342"/>
            <a:ext cx="22502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FIABILITÉ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465094" y="3575447"/>
            <a:ext cx="22502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L'analyse exclut les entrées sans note globale pour garantir la pertinence des statistiques présentées.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0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La Notion de Régularité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857375"/>
            <a:ext cx="385762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L'écart type de la qualité narrative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2760334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Définition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3101448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La régularité est mesurée par la différence entre la note du meilleur épisode et celle du pire épisode d'une série.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3851542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Impact des Fillers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28625" y="4192656"/>
            <a:ext cx="3857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Les animes longs (Naruto, DBZ) souffrent d'une régularité moindre due aux épisodes de remplissage souvent mal notés.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57750" y="1571625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Animes Courts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857750" y="1912739"/>
            <a:ext cx="3857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Les séries de 12 à 26 épisodes maintiennent généralement une tension et une qualité visuelle plus constantes.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57750" y="2877145"/>
            <a:ext cx="3857625" cy="16430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5072063" y="3091458"/>
            <a:ext cx="3429000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i="1" dirty="0">
                <a:solidFill>
                  <a:srgbClr val="F2F2F2"/>
                </a:solidFill>
              </a:rPr>
              <a:t>"Une note globale élevée peut masquer des chutes de qualité brutales. La régularité est le véritable indicateur de l'immersion durable du spectateur."</a:t>
            </a:r>
            <a:endParaRPr lang="en-US" sz="115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Le Score Métier : Une Nouvelle Métrique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285750" y="1400175"/>
            <a:ext cx="8572500" cy="11430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25203"/>
            <a:ext cx="84010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2F2F2"/>
                </a:solidFill>
              </a:rPr>
              <a:t>Équation de Performance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57200" y="1916311"/>
            <a:ext cx="84010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F2F2F2"/>
                </a:solidFill>
              </a:rPr>
              <a:t>(Note Globale × 0.7) + (Régularité × 0.3)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85750" y="2904353"/>
            <a:ext cx="4143375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Objectif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285750" y="3302617"/>
            <a:ext cx="4143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Équilibrer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l'excellence globale et la constance narrative.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285750" y="3624086"/>
            <a:ext cx="4143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Valoriser les œuvres qui maintiennent un haut niveau 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de qualité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du début à la fin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.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4714875" y="2904353"/>
            <a:ext cx="4143375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Analyse des Poids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714875" y="3302617"/>
            <a:ext cx="4143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70% : Qualité Perçue.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La réputation et l'impact global 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de l'œuvre.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714875" y="3859830"/>
            <a:ext cx="4143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30% : Constance.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 La capacité à éviter les épisodes 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"fillers" ou décevants.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714875" y="4417042"/>
            <a:ext cx="41433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Moyenne Globale : 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8.04 / 10</a:t>
            </a:r>
            <a:endParaRPr lang="en-US" sz="139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Le Top 10 selon le Score Métier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285875"/>
            <a:ext cx="4400550" cy="37861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657350"/>
            <a:ext cx="4400550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354634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85813" y="1374279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Frieren: Beyond Journey's End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543258" y="1374279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9.30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28625" y="1711821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02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85813" y="1731466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Cowboy Bebop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543258" y="1731466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8.41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28625" y="2061865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03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85813" y="2081510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Fullmetal Alchemist: Brotherhood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543258" y="2081510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8.38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28625" y="2411909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04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85813" y="2431554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Dr. Stone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543258" y="2431554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8.21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28625" y="2761952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05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785813" y="2781598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Re:Zero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543258" y="2781598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8.08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428625" y="3111996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06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785813" y="3131641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Dragon Ball Z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4543258" y="3131641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8.04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428625" y="3462040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07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785813" y="3481685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Trigun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4543258" y="3481685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7.96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428625" y="3812084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08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785813" y="3831729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One Piece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4543258" y="3831729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7.83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428625" y="4162127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09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785813" y="4181773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Blue Lock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4543258" y="4181773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7.75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428625" y="4512171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10</a:t>
            </a:r>
            <a:endParaRPr lang="en-US" sz="1193" dirty="0"/>
          </a:p>
        </p:txBody>
      </p:sp>
      <p:sp>
        <p:nvSpPr>
          <p:cNvPr id="35" name="Text 32"/>
          <p:cNvSpPr/>
          <p:nvPr/>
        </p:nvSpPr>
        <p:spPr>
          <a:xfrm>
            <a:off x="785813" y="4531816"/>
            <a:ext cx="37574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Naruto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4543258" y="4531816"/>
            <a:ext cx="285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7.74</a:t>
            </a:r>
            <a:endParaRPr lang="en-US" sz="987" dirty="0"/>
          </a:p>
        </p:txBody>
      </p:sp>
      <p:sp>
        <p:nvSpPr>
          <p:cNvPr id="37" name="Shape 34"/>
          <p:cNvSpPr/>
          <p:nvPr/>
        </p:nvSpPr>
        <p:spPr>
          <a:xfrm>
            <a:off x="5114925" y="1285875"/>
            <a:ext cx="3600450" cy="3571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Shape 35"/>
          <p:cNvSpPr/>
          <p:nvPr/>
        </p:nvSpPr>
        <p:spPr>
          <a:xfrm>
            <a:off x="4972050" y="1428750"/>
            <a:ext cx="2377222" cy="298252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9" name="Text 36"/>
          <p:cNvSpPr/>
          <p:nvPr/>
        </p:nvSpPr>
        <p:spPr>
          <a:xfrm>
            <a:off x="4972050" y="1428750"/>
            <a:ext cx="2377222" cy="29825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2F2F2"/>
                </a:solidFill>
              </a:rPr>
              <a:t>Champion de la Constance</a:t>
            </a:r>
            <a:endParaRPr lang="en-US" sz="784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5" y="1285875"/>
            <a:ext cx="360045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Analyse des Sources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0" y="1143000"/>
            <a:ext cx="3729038" cy="371475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3729038" cy="3714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7663" y="1871663"/>
            <a:ext cx="455771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D'où viennent nos histoires ?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4393406" y="2436019"/>
            <a:ext cx="43219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MANGA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393406" y="2705695"/>
            <a:ext cx="43219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La source ultra-dominante du marché. Moteur principal de l'industrie (ex: Naruto, One Piece, DBZ).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4393406" y="3364706"/>
            <a:ext cx="43219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ORIGINAL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393406" y="3634383"/>
            <a:ext cx="43219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Créations uniques sans support préalable. Souvent synonyme de haute qualité artistique (ex: Cowboy Bebop).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4393406" y="4293394"/>
            <a:ext cx="43219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LIGHT NOVEL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4393406" y="4563070"/>
            <a:ext cx="43219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 forte progression. Adaptations de romans courts japonais (ex: No Game No Life, Re:Zero).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Analyse par Studio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514475"/>
            <a:ext cx="4000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Madhouse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934170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4500"/>
                </a:solidFill>
              </a:rPr>
              <a:t>Classiques Cultes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2200275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Reconnu pour sa polyvalence et sa capacité à produire des chefs-d'œuvre intemporels (ex: Trigun, No Game No Life).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14875" y="1514475"/>
            <a:ext cx="4000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Studio Pierrot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4714875" y="1934170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4500"/>
                </a:solidFill>
              </a:rPr>
              <a:t>Spécialiste Shonen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714875" y="2200275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Maître des adaptations de longue durée, gérant des centaines d'épisodes avec des pics d'animation viscéraux (ex: Naruto).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3571875"/>
            <a:ext cx="4000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Wit Studio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28625" y="3991570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4500"/>
                </a:solidFill>
              </a:rPr>
              <a:t>Direction Artistique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28625" y="4257675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Célèbre pour ses choix esthétiques audacieux et ses palettes de couleurs vibrantes (ex: Great Pretender).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714875" y="3571875"/>
            <a:ext cx="4000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Bones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4714875" y="3991570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4500"/>
                </a:solidFill>
              </a:rPr>
              <a:t>Excellence Technique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714875" y="4257675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Réputé pour la fluidité constante de son animation et sa rigueur narrative (ex: Fullmetal Alchemist: Brotherhood).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Zoom sur les Extrêmes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0" y="1143000"/>
            <a:ext cx="4572000" cy="4000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843088"/>
            <a:ext cx="3714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2F2F2"/>
                </a:solidFill>
              </a:rPr>
              <a:t>Les Sommets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428625" y="2478881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Climax Narratif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2764631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Souvent une conclusion d'arc, un sacrifice thématique ou un combat viscéral.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28625" y="3221831"/>
            <a:ext cx="1619064" cy="21431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3221831"/>
            <a:ext cx="1619064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Ep 63 FMA:B | Ep 133 Naruto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721894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Excellence Technique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28625" y="4007644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Animation fluide, mise en scène cinématographique et impact émotionnel maximal.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28625" y="4464844"/>
            <a:ext cx="1231320" cy="21431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4464844"/>
            <a:ext cx="1231320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Note Moyenne : 9.3+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4572000" y="1143000"/>
            <a:ext cx="4572000" cy="4000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25" y="1843088"/>
            <a:ext cx="3714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Les Creux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5000625" y="2478881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Rupture de Rythme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5000625" y="2764631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Épisodes récapitulatifs (Recap) ou intrigues secondaires déconnectées (Filler).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5000625" y="3221831"/>
            <a:ext cx="1640077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5000625" y="3221831"/>
            <a:ext cx="1640077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Ep 26 Naruto | Ep 13 Trigun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000625" y="3721894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Baisse de Qualité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5000625" y="4007644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Animation statique, dialogues excessifs et manque d'enjeux narratifs.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5000625" y="4464844"/>
            <a:ext cx="1420546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5000625" y="4464844"/>
            <a:ext cx="1420546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Note Minimale : 0.0 - 6.0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Conclusion et Perspectives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285750" y="1357313"/>
            <a:ext cx="4214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Qualité vs Régularité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85750" y="1676995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La Note Globale ne dit pas tout : la régularité est la clé d'une immersion durable pour le spectateur.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43438" y="1357313"/>
            <a:ext cx="4214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Hégémonie du Manga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643438" y="1676995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Les sources Manga restent le moteur principal et le gage de succès commercial de l'industrie.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85750" y="2571750"/>
            <a:ext cx="4214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Nouveau Standard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85750" y="2891433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Frieren s'impose comme le nouveau standard de perfection moderne, alliant excellence et constance.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643438" y="2571750"/>
            <a:ext cx="42148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Valeur de la Data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643438" y="2891433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L'analyse de données permet de rationaliser nos préférences subjectives et d'identifier les vrais chefs-d'œuvre.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285750" y="3643313"/>
            <a:ext cx="8572500" cy="771525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937099"/>
            <a:ext cx="661759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2F2F2"/>
                </a:solidFill>
              </a:rPr>
              <a:t>L'excellence est une habitude, pas un acte isolé.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2026-02-05T00:48:54Z</dcterms:created>
  <dcterms:modified xsi:type="dcterms:W3CDTF">2026-02-05T00:48:54Z</dcterms:modified>
</cp:coreProperties>
</file>